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a:solidFill>
                  <a:srgbClr val="000000"/>
                </a:solidFill>
                <a:latin typeface="Times New Roman"/>
              </a:rPr>
              <a:t>IEEE Standard Verification Report</a:t>
            </a:r>
          </a:p>
        </p:txBody>
      </p:sp>
      <p:sp>
        <p:nvSpPr>
          <p:cNvPr id="3" name="Subtitle 2"/>
          <p:cNvSpPr>
            <a:spLocks noGrp="1"/>
          </p:cNvSpPr>
          <p:nvPr>
            <p:ph type="subTitle" idx="1"/>
          </p:nvPr>
        </p:nvSpPr>
        <p:spPr/>
        <p:txBody>
          <a:bodyPr/>
          <a:lstStyle/>
          <a:p>
            <a:r>
              <a:rPr>
                <a:solidFill>
                  <a:srgbClr val="000000"/>
                </a:solidFill>
                <a:latin typeface="Times New Roman"/>
              </a:rPr>
              <a:t>This is an abstract text. It should be justified and span the width of the page in the first section, or be part of the flow. In our implemented mixed layout, the title and abstract are on page 1, followed by two-column text. The font should be Times-Italic for the abstract.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latin typeface="Times New Roman"/>
              </a:rPr>
              <a:t>1. Introduction</a:t>
            </a:r>
          </a:p>
        </p:txBody>
      </p:sp>
      <p:sp>
        <p:nvSpPr>
          <p:cNvPr id="3" name="Content Placeholder 2"/>
          <p:cNvSpPr>
            <a:spLocks noGrp="1"/>
          </p:cNvSpPr>
          <p:nvPr>
            <p:ph idx="1"/>
          </p:nvPr>
        </p:nvSpPr>
        <p:spPr/>
        <p:txBody>
          <a:bodyPr/>
          <a:lstStyle/>
          <a:p/>
          <a:p>
            <a:pPr>
              <a:defRPr sz="1800">
                <a:solidFill>
                  <a:srgbClr val="000000"/>
                </a:solidFill>
                <a:latin typeface="Times New Roman"/>
              </a:defRPr>
            </a:pPr>
            <a:r>
              <a:t>This is the first bullet of the introduction.</a:t>
            </a:r>
          </a:p>
          <a:p>
            <a:pPr>
              <a:defRPr sz="1800">
                <a:solidFill>
                  <a:srgbClr val="000000"/>
                </a:solidFill>
                <a:latin typeface="Times New Roman"/>
              </a:defRPr>
            </a:pPr>
            <a:r>
              <a:t>It should be in a two-column layout.</a:t>
            </a:r>
          </a:p>
          <a:p>
            <a:pPr>
              <a:defRPr sz="1800">
                <a:solidFill>
                  <a:srgbClr val="000000"/>
                </a:solidFill>
                <a:latin typeface="Times New Roman"/>
              </a:defRPr>
            </a:pPr>
            <a:r>
              <a:t>The font should be Times-Roman 10pt.</a:t>
            </a:r>
          </a:p>
          <a:p>
            <a:pPr>
              <a:defRPr sz="1800">
                <a:solidFill>
                  <a:srgbClr val="000000"/>
                </a:solidFill>
                <a:latin typeface="Times New Roman"/>
              </a:defRPr>
            </a:pPr>
            <a:r>
              <a:t>Here is some filler text to ensure it wraps to the next line in the column properly. Here is some filler text to ensure it wraps to the next line in the column properly. Here is some filler text to ensure it wraps to the next line in the column properly. </a:t>
            </a:r>
          </a:p>
        </p:txBody>
      </p:sp>
      <p:sp>
        <p:nvSpPr>
          <p:cNvPr id="4" name="TextBox 3"/>
          <p:cNvSpPr txBox="1"/>
          <p:nvPr/>
        </p:nvSpPr>
        <p:spPr>
          <a:xfrm>
            <a:off x="7772400" y="6400800"/>
            <a:ext cx="914400" cy="457200"/>
          </a:xfrm>
          <a:prstGeom prst="rect">
            <a:avLst/>
          </a:prstGeom>
          <a:noFill/>
        </p:spPr>
        <p:txBody>
          <a:bodyPr wrap="none">
            <a:spAutoFit/>
          </a:bodyPr>
          <a:lstStyle/>
          <a:p>
            <a:pPr>
              <a:defRPr sz="1200">
                <a:solidFill>
                  <a:srgbClr val="646464"/>
                </a:solidFill>
                <a:latin typeface="Times New Roman"/>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latin typeface="Times New Roman"/>
              </a:rPr>
              <a:t>2. Methodology</a:t>
            </a:r>
          </a:p>
        </p:txBody>
      </p:sp>
      <p:sp>
        <p:nvSpPr>
          <p:cNvPr id="3" name="Content Placeholder 2"/>
          <p:cNvSpPr>
            <a:spLocks noGrp="1"/>
          </p:cNvSpPr>
          <p:nvPr>
            <p:ph idx="1"/>
          </p:nvPr>
        </p:nvSpPr>
        <p:spPr/>
        <p:txBody>
          <a:bodyPr/>
          <a:lstStyle/>
          <a:p/>
          <a:p>
            <a:pPr>
              <a:defRPr sz="1800">
                <a:solidFill>
                  <a:srgbClr val="000000"/>
                </a:solidFill>
                <a:latin typeface="Times New Roman"/>
              </a:defRPr>
            </a:pPr>
            <a:r>
              <a:t>This section tests the column flow.</a:t>
            </a:r>
          </a:p>
          <a:p>
            <a:pPr>
              <a:defRPr sz="1800">
                <a:solidFill>
                  <a:srgbClr val="000000"/>
                </a:solidFill>
                <a:latin typeface="Times New Roman"/>
              </a:defRPr>
            </a:pPr>
            <a:r>
              <a:t>We expect this to appear in the first or second column depending on length.</a:t>
            </a:r>
          </a:p>
        </p:txBody>
      </p:sp>
      <p:sp>
        <p:nvSpPr>
          <p:cNvPr id="4" name="TextBox 3"/>
          <p:cNvSpPr txBox="1"/>
          <p:nvPr/>
        </p:nvSpPr>
        <p:spPr>
          <a:xfrm>
            <a:off x="7772400" y="6400800"/>
            <a:ext cx="914400" cy="457200"/>
          </a:xfrm>
          <a:prstGeom prst="rect">
            <a:avLst/>
          </a:prstGeom>
          <a:noFill/>
        </p:spPr>
        <p:txBody>
          <a:bodyPr wrap="none">
            <a:spAutoFit/>
          </a:bodyPr>
          <a:lstStyle/>
          <a:p>
            <a:pPr>
              <a:defRPr sz="1200">
                <a:solidFill>
                  <a:srgbClr val="646464"/>
                </a:solidFill>
                <a:latin typeface="Times New Roman"/>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latin typeface="Times New Roman"/>
              </a:rPr>
              <a:t>Patent-style Claims</a:t>
            </a:r>
          </a:p>
        </p:txBody>
      </p:sp>
      <p:sp>
        <p:nvSpPr>
          <p:cNvPr id="3" name="Content Placeholder 2"/>
          <p:cNvSpPr>
            <a:spLocks noGrp="1"/>
          </p:cNvSpPr>
          <p:nvPr>
            <p:ph idx="1"/>
          </p:nvPr>
        </p:nvSpPr>
        <p:spPr/>
        <p:txBody>
          <a:bodyPr/>
          <a:lstStyle/>
          <a:p/>
          <a:p>
            <a:pPr>
              <a:defRPr sz="1600">
                <a:solidFill>
                  <a:srgbClr val="000000"/>
                </a:solidFill>
                <a:latin typeface="Times New Roman"/>
              </a:defRPr>
            </a:pPr>
            <a:r>
              <a:t>Claim 1: Standardization works.</a:t>
            </a:r>
          </a:p>
          <a:p>
            <a:pPr>
              <a:defRPr sz="1600">
                <a:solidFill>
                  <a:srgbClr val="000000"/>
                </a:solidFill>
                <a:latin typeface="Times New Roman"/>
              </a:defRPr>
            </a:pPr>
            <a:r>
              <a:t>Claim 2: Fonts are correct.</a:t>
            </a:r>
          </a:p>
        </p:txBody>
      </p:sp>
      <p:sp>
        <p:nvSpPr>
          <p:cNvPr id="4" name="TextBox 3"/>
          <p:cNvSpPr txBox="1"/>
          <p:nvPr/>
        </p:nvSpPr>
        <p:spPr>
          <a:xfrm>
            <a:off x="7772400" y="6400800"/>
            <a:ext cx="914400" cy="457200"/>
          </a:xfrm>
          <a:prstGeom prst="rect">
            <a:avLst/>
          </a:prstGeom>
          <a:noFill/>
        </p:spPr>
        <p:txBody>
          <a:bodyPr wrap="none">
            <a:spAutoFit/>
          </a:bodyPr>
          <a:lstStyle/>
          <a:p>
            <a:pPr>
              <a:defRPr sz="1200">
                <a:solidFill>
                  <a:srgbClr val="646464"/>
                </a:solidFill>
                <a:latin typeface="Times New Roman"/>
              </a:defRPr>
            </a:pPr>
            <a:r>
              <a:t>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