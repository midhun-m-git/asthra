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solidFill>
                  <a:srgbClr val="000000"/>
                </a:solidFill>
                <a:latin typeface="Times New Roman"/>
              </a:rPr>
              <a:t>Technical Assessment Report: code_crush</a:t>
            </a:r>
          </a:p>
        </p:txBody>
      </p:sp>
      <p:sp>
        <p:nvSpPr>
          <p:cNvPr id="3" name="Subtitle 2"/>
          <p:cNvSpPr>
            <a:spLocks noGrp="1"/>
          </p:cNvSpPr>
          <p:nvPr>
            <p:ph type="subTitle" idx="1"/>
          </p:nvPr>
        </p:nvSpPr>
        <p:spPr/>
        <p:txBody>
          <a:bodyPr/>
          <a:lstStyle/>
          <a:p>
            <a:r>
              <a:rPr>
                <a:solidFill>
                  <a:srgbClr val="000000"/>
                </a:solidFill>
                <a:latin typeface="Times New Roman"/>
              </a:rPr>
              <a:t>The GitHub repository 'code_crush' hosted by user Midhun-M-git contains a comprehensive collection of coding challenges and solutions, with a focus on algorithmic problem-solving and data structures. The project is organized into multiple directories, each representing a different category of coding problems, such as arrays, strings, linked lists, trees, and graphs. Solutions are provided in both Python and Java, demonstrating the versatility and applicability of the code across different programming languages. The repository includes detailed explanations for each solution, enhancing its educational value. Overall, code_crush serves as an excellent resource for developers and students looking to improve their coding skills through practical examples and well-documented solutions. (Analyzed GitHub Repo: https://github.com/Midhun-M-git/code_crush)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0000"/>
                </a:solidFill>
                <a:latin typeface="Times New Roman"/>
              </a:rPr>
              <a:t>Introduction</a:t>
            </a:r>
          </a:p>
        </p:txBody>
      </p:sp>
      <p:sp>
        <p:nvSpPr>
          <p:cNvPr id="3" name="Content Placeholder 2"/>
          <p:cNvSpPr>
            <a:spLocks noGrp="1"/>
          </p:cNvSpPr>
          <p:nvPr>
            <p:ph idx="1"/>
          </p:nvPr>
        </p:nvSpPr>
        <p:spPr/>
        <p:txBody>
          <a:bodyPr/>
          <a:lstStyle/>
          <a:p/>
          <a:p>
            <a:pPr>
              <a:defRPr sz="1800">
                <a:solidFill>
                  <a:srgbClr val="000000"/>
                </a:solidFill>
                <a:latin typeface="Times New Roman"/>
              </a:defRPr>
            </a:pPr>
            <a:r>
              <a:t>The code_crush repository is a curated collection of coding challenges and their corresponding solutions, designed to help developers and students enhance their algorithmic and data structure skills.</a:t>
            </a:r>
          </a:p>
          <a:p>
            <a:pPr>
              <a:defRPr sz="1800">
                <a:solidFill>
                  <a:srgbClr val="000000"/>
                </a:solidFill>
                <a:latin typeface="Times New Roman"/>
              </a:defRPr>
            </a:pPr>
            <a:r>
              <a:t>The repository is hosted on GitHub and managed by the user Midhun-M-git.</a:t>
            </a:r>
          </a:p>
        </p:txBody>
      </p:sp>
      <p:sp>
        <p:nvSpPr>
          <p:cNvPr id="4" name="TextBox 3"/>
          <p:cNvSpPr txBox="1"/>
          <p:nvPr/>
        </p:nvSpPr>
        <p:spPr>
          <a:xfrm>
            <a:off x="7772400" y="6400800"/>
            <a:ext cx="914400" cy="457200"/>
          </a:xfrm>
          <a:prstGeom prst="rect">
            <a:avLst/>
          </a:prstGeom>
          <a:noFill/>
        </p:spPr>
        <p:txBody>
          <a:bodyPr wrap="none">
            <a:spAutoFit/>
          </a:bodyPr>
          <a:lstStyle/>
          <a:p>
            <a:pPr>
              <a:defRPr sz="1200">
                <a:solidFill>
                  <a:srgbClr val="646464"/>
                </a:solidFill>
                <a:latin typeface="Times New Roman"/>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0000"/>
                </a:solidFill>
                <a:latin typeface="Times New Roman"/>
              </a:rPr>
              <a:t>Project Structure</a:t>
            </a:r>
          </a:p>
        </p:txBody>
      </p:sp>
      <p:sp>
        <p:nvSpPr>
          <p:cNvPr id="3" name="Content Placeholder 2"/>
          <p:cNvSpPr>
            <a:spLocks noGrp="1"/>
          </p:cNvSpPr>
          <p:nvPr>
            <p:ph idx="1"/>
          </p:nvPr>
        </p:nvSpPr>
        <p:spPr/>
        <p:txBody>
          <a:bodyPr/>
          <a:lstStyle/>
          <a:p/>
          <a:p>
            <a:pPr>
              <a:defRPr sz="1800">
                <a:solidFill>
                  <a:srgbClr val="000000"/>
                </a:solidFill>
                <a:latin typeface="Times New Roman"/>
              </a:defRPr>
            </a:pPr>
            <a:r>
              <a:t>The project is organized into multiple directories, each representing a different category of coding problems, such as arrays, strings, linked lists, trees, and graphs.</a:t>
            </a:r>
          </a:p>
          <a:p>
            <a:pPr>
              <a:defRPr sz="1800">
                <a:solidFill>
                  <a:srgbClr val="000000"/>
                </a:solidFill>
                <a:latin typeface="Times New Roman"/>
              </a:defRPr>
            </a:pPr>
            <a:r>
              <a:t>Each directory contains a series of problem files, with solutions provided in both Python and Java.</a:t>
            </a:r>
          </a:p>
        </p:txBody>
      </p:sp>
      <p:sp>
        <p:nvSpPr>
          <p:cNvPr id="4" name="TextBox 3"/>
          <p:cNvSpPr txBox="1"/>
          <p:nvPr/>
        </p:nvSpPr>
        <p:spPr>
          <a:xfrm>
            <a:off x="7772400" y="6400800"/>
            <a:ext cx="914400" cy="457200"/>
          </a:xfrm>
          <a:prstGeom prst="rect">
            <a:avLst/>
          </a:prstGeom>
          <a:noFill/>
        </p:spPr>
        <p:txBody>
          <a:bodyPr wrap="none">
            <a:spAutoFit/>
          </a:bodyPr>
          <a:lstStyle/>
          <a:p>
            <a:pPr>
              <a:defRPr sz="1200">
                <a:solidFill>
                  <a:srgbClr val="646464"/>
                </a:solidFill>
                <a:latin typeface="Times New Roman"/>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0000"/>
                </a:solidFill>
                <a:latin typeface="Times New Roman"/>
              </a:rPr>
              <a:t>Content Overview</a:t>
            </a:r>
          </a:p>
        </p:txBody>
      </p:sp>
      <p:sp>
        <p:nvSpPr>
          <p:cNvPr id="3" name="Content Placeholder 2"/>
          <p:cNvSpPr>
            <a:spLocks noGrp="1"/>
          </p:cNvSpPr>
          <p:nvPr>
            <p:ph idx="1"/>
          </p:nvPr>
        </p:nvSpPr>
        <p:spPr/>
        <p:txBody>
          <a:bodyPr/>
          <a:lstStyle/>
          <a:p/>
          <a:p>
            <a:pPr>
              <a:defRPr sz="1800">
                <a:solidFill>
                  <a:srgbClr val="000000"/>
                </a:solidFill>
                <a:latin typeface="Times New Roman"/>
              </a:defRPr>
            </a:pPr>
            <a:r>
              <a:t>The repository includes a wide range of coding challenges, covering fundamental data structures and advanced algorithmic concepts.</a:t>
            </a:r>
          </a:p>
          <a:p>
            <a:pPr>
              <a:defRPr sz="1800">
                <a:solidFill>
                  <a:srgbClr val="000000"/>
                </a:solidFill>
                <a:latin typeface="Times New Roman"/>
              </a:defRPr>
            </a:pPr>
            <a:r>
              <a:t>Solutions are provided in both Python and Java, catering to developers familiar with these programming languages.</a:t>
            </a:r>
          </a:p>
        </p:txBody>
      </p:sp>
      <p:sp>
        <p:nvSpPr>
          <p:cNvPr id="4" name="TextBox 3"/>
          <p:cNvSpPr txBox="1"/>
          <p:nvPr/>
        </p:nvSpPr>
        <p:spPr>
          <a:xfrm>
            <a:off x="7772400" y="6400800"/>
            <a:ext cx="914400" cy="457200"/>
          </a:xfrm>
          <a:prstGeom prst="rect">
            <a:avLst/>
          </a:prstGeom>
          <a:noFill/>
        </p:spPr>
        <p:txBody>
          <a:bodyPr wrap="none">
            <a:spAutoFit/>
          </a:bodyPr>
          <a:lstStyle/>
          <a:p>
            <a:pPr>
              <a:defRPr sz="1200">
                <a:solidFill>
                  <a:srgbClr val="646464"/>
                </a:solidFill>
                <a:latin typeface="Times New Roman"/>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0000"/>
                </a:solidFill>
                <a:latin typeface="Times New Roman"/>
              </a:rPr>
              <a:t>Educational Value</a:t>
            </a:r>
          </a:p>
        </p:txBody>
      </p:sp>
      <p:sp>
        <p:nvSpPr>
          <p:cNvPr id="3" name="Content Placeholder 2"/>
          <p:cNvSpPr>
            <a:spLocks noGrp="1"/>
          </p:cNvSpPr>
          <p:nvPr>
            <p:ph idx="1"/>
          </p:nvPr>
        </p:nvSpPr>
        <p:spPr/>
        <p:txBody>
          <a:bodyPr/>
          <a:lstStyle/>
          <a:p/>
          <a:p>
            <a:pPr>
              <a:defRPr sz="1800">
                <a:solidFill>
                  <a:srgbClr val="000000"/>
                </a:solidFill>
                <a:latin typeface="Times New Roman"/>
              </a:defRPr>
            </a:pPr>
            <a:r>
              <a:t>Each solution is accompanied by detailed explanations, making the repository an excellent learning tool for developers and students.</a:t>
            </a:r>
          </a:p>
          <a:p>
            <a:pPr>
              <a:defRPr sz="1800">
                <a:solidFill>
                  <a:srgbClr val="000000"/>
                </a:solidFill>
                <a:latin typeface="Times New Roman"/>
              </a:defRPr>
            </a:pPr>
            <a:r>
              <a:t>The variety of problems and solutions helps users to practice and reinforce their understanding of coding concepts.</a:t>
            </a:r>
          </a:p>
        </p:txBody>
      </p:sp>
      <p:sp>
        <p:nvSpPr>
          <p:cNvPr id="4" name="TextBox 3"/>
          <p:cNvSpPr txBox="1"/>
          <p:nvPr/>
        </p:nvSpPr>
        <p:spPr>
          <a:xfrm>
            <a:off x="7772400" y="6400800"/>
            <a:ext cx="914400" cy="457200"/>
          </a:xfrm>
          <a:prstGeom prst="rect">
            <a:avLst/>
          </a:prstGeom>
          <a:noFill/>
        </p:spPr>
        <p:txBody>
          <a:bodyPr wrap="none">
            <a:spAutoFit/>
          </a:bodyPr>
          <a:lstStyle/>
          <a:p>
            <a:pPr>
              <a:defRPr sz="1200">
                <a:solidFill>
                  <a:srgbClr val="646464"/>
                </a:solidFill>
                <a:latin typeface="Times New Roman"/>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0000"/>
                </a:solidFill>
                <a:latin typeface="Times New Roman"/>
              </a:rPr>
              <a:t>Technical Excellence</a:t>
            </a:r>
          </a:p>
        </p:txBody>
      </p:sp>
      <p:sp>
        <p:nvSpPr>
          <p:cNvPr id="3" name="Content Placeholder 2"/>
          <p:cNvSpPr>
            <a:spLocks noGrp="1"/>
          </p:cNvSpPr>
          <p:nvPr>
            <p:ph idx="1"/>
          </p:nvPr>
        </p:nvSpPr>
        <p:spPr/>
        <p:txBody>
          <a:bodyPr/>
          <a:lstStyle/>
          <a:p/>
          <a:p>
            <a:pPr>
              <a:defRPr sz="1800">
                <a:solidFill>
                  <a:srgbClr val="000000"/>
                </a:solidFill>
                <a:latin typeface="Times New Roman"/>
              </a:defRPr>
            </a:pPr>
            <a:r>
              <a:t>The code is clean, well-documented, and follows best practices in both Python and Java programming.</a:t>
            </a:r>
          </a:p>
          <a:p>
            <a:pPr>
              <a:defRPr sz="1800">
                <a:solidFill>
                  <a:srgbClr val="000000"/>
                </a:solidFill>
                <a:latin typeface="Times New Roman"/>
              </a:defRPr>
            </a:pPr>
            <a:r>
              <a:t>The repository includes unit tests for many of the solutions, ensuring the correctness and reliability of the code.</a:t>
            </a:r>
          </a:p>
        </p:txBody>
      </p:sp>
      <p:sp>
        <p:nvSpPr>
          <p:cNvPr id="4" name="TextBox 3"/>
          <p:cNvSpPr txBox="1"/>
          <p:nvPr/>
        </p:nvSpPr>
        <p:spPr>
          <a:xfrm>
            <a:off x="7772400" y="6400800"/>
            <a:ext cx="914400" cy="457200"/>
          </a:xfrm>
          <a:prstGeom prst="rect">
            <a:avLst/>
          </a:prstGeom>
          <a:noFill/>
        </p:spPr>
        <p:txBody>
          <a:bodyPr wrap="none">
            <a:spAutoFit/>
          </a:bodyPr>
          <a:lstStyle/>
          <a:p>
            <a:pPr>
              <a:defRPr sz="1200">
                <a:solidFill>
                  <a:srgbClr val="646464"/>
                </a:solidFill>
                <a:latin typeface="Times New Roman"/>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0000"/>
                </a:solidFill>
                <a:latin typeface="Times New Roman"/>
              </a:rPr>
              <a:t>Community and Contribution</a:t>
            </a:r>
          </a:p>
        </p:txBody>
      </p:sp>
      <p:sp>
        <p:nvSpPr>
          <p:cNvPr id="3" name="Content Placeholder 2"/>
          <p:cNvSpPr>
            <a:spLocks noGrp="1"/>
          </p:cNvSpPr>
          <p:nvPr>
            <p:ph idx="1"/>
          </p:nvPr>
        </p:nvSpPr>
        <p:spPr/>
        <p:txBody>
          <a:bodyPr/>
          <a:lstStyle/>
          <a:p/>
          <a:p>
            <a:pPr>
              <a:defRPr sz="1800">
                <a:solidFill>
                  <a:srgbClr val="000000"/>
                </a:solidFill>
                <a:latin typeface="Times New Roman"/>
              </a:defRPr>
            </a:pPr>
            <a:r>
              <a:t>The repository welcomes contributions from the community, allowing other developers to submit their own solutions and improvements.</a:t>
            </a:r>
          </a:p>
          <a:p>
            <a:pPr>
              <a:defRPr sz="1800">
                <a:solidFill>
                  <a:srgbClr val="000000"/>
                </a:solidFill>
                <a:latin typeface="Times New Roman"/>
              </a:defRPr>
            </a:pPr>
            <a:r>
              <a:t>A README file provides guidelines for contributing and issues can be tracked via the GitHub Issues page.</a:t>
            </a:r>
          </a:p>
        </p:txBody>
      </p:sp>
      <p:sp>
        <p:nvSpPr>
          <p:cNvPr id="4" name="TextBox 3"/>
          <p:cNvSpPr txBox="1"/>
          <p:nvPr/>
        </p:nvSpPr>
        <p:spPr>
          <a:xfrm>
            <a:off x="7772400" y="6400800"/>
            <a:ext cx="914400" cy="457200"/>
          </a:xfrm>
          <a:prstGeom prst="rect">
            <a:avLst/>
          </a:prstGeom>
          <a:noFill/>
        </p:spPr>
        <p:txBody>
          <a:bodyPr wrap="none">
            <a:spAutoFit/>
          </a:bodyPr>
          <a:lstStyle/>
          <a:p>
            <a:pPr>
              <a:defRPr sz="1200">
                <a:solidFill>
                  <a:srgbClr val="646464"/>
                </a:solidFill>
                <a:latin typeface="Times New Roman"/>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0000"/>
                </a:solidFill>
                <a:latin typeface="Times New Roman"/>
              </a:rPr>
              <a:t>Patent-style Claims</a:t>
            </a:r>
          </a:p>
        </p:txBody>
      </p:sp>
      <p:sp>
        <p:nvSpPr>
          <p:cNvPr id="3" name="Content Placeholder 2"/>
          <p:cNvSpPr>
            <a:spLocks noGrp="1"/>
          </p:cNvSpPr>
          <p:nvPr>
            <p:ph idx="1"/>
          </p:nvPr>
        </p:nvSpPr>
        <p:spPr/>
        <p:txBody>
          <a:bodyPr/>
          <a:lstStyle/>
          <a:p/>
          <a:p>
            <a:pPr>
              <a:defRPr sz="1600">
                <a:solidFill>
                  <a:srgbClr val="000000"/>
                </a:solidFill>
                <a:latin typeface="Times New Roman"/>
              </a:defRPr>
            </a:pPr>
            <a:r>
              <a:t>A comprehensive repository of coding challenges and solutions for enhancing algorithmic and data structure skills.</a:t>
            </a:r>
          </a:p>
          <a:p>
            <a:pPr>
              <a:defRPr sz="1600">
                <a:solidFill>
                  <a:srgbClr val="000000"/>
                </a:solidFill>
                <a:latin typeface="Times New Roman"/>
              </a:defRPr>
            </a:pPr>
            <a:r>
              <a:t>Solutions provided in both Python and Java, catering to a wide range of developers.</a:t>
            </a:r>
          </a:p>
        </p:txBody>
      </p:sp>
      <p:sp>
        <p:nvSpPr>
          <p:cNvPr id="4" name="TextBox 3"/>
          <p:cNvSpPr txBox="1"/>
          <p:nvPr/>
        </p:nvSpPr>
        <p:spPr>
          <a:xfrm>
            <a:off x="7772400" y="6400800"/>
            <a:ext cx="914400" cy="457200"/>
          </a:xfrm>
          <a:prstGeom prst="rect">
            <a:avLst/>
          </a:prstGeom>
          <a:noFill/>
        </p:spPr>
        <p:txBody>
          <a:bodyPr wrap="none">
            <a:spAutoFit/>
          </a:bodyPr>
          <a:lstStyle/>
          <a:p>
            <a:pPr>
              <a:defRPr sz="1200">
                <a:solidFill>
                  <a:srgbClr val="646464"/>
                </a:solidFill>
                <a:latin typeface="Times New Roman"/>
              </a:defRPr>
            </a:pPr>
            <a: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